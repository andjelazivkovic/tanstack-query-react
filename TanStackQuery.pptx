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IBM Plex Sans"/>
      <p:regular r:id="rId19"/>
      <p:bold r:id="rId20"/>
      <p:italic r:id="rId21"/>
      <p:boldItalic r:id="rId22"/>
    </p:embeddedFont>
    <p:embeddedFont>
      <p:font typeface="Sora SemiBold"/>
      <p:regular r:id="rId23"/>
      <p:bold r:id="rId24"/>
    </p:embeddedFont>
    <p:embeddedFont>
      <p:font typeface="IBM Plex Sans Medium"/>
      <p:regular r:id="rId25"/>
      <p:bold r:id="rId26"/>
      <p:italic r:id="rId27"/>
      <p:boldItalic r:id="rId28"/>
    </p:embeddedFont>
    <p:embeddedFont>
      <p:font typeface="Sora Light"/>
      <p:regular r:id="rId29"/>
      <p:bold r:id="rId30"/>
    </p:embeddedFont>
    <p:embeddedFont>
      <p:font typeface="Sora ExtraLight"/>
      <p:regular r:id="rId31"/>
      <p:bold r:id="rId32"/>
    </p:embeddedFont>
    <p:embeddedFont>
      <p:font typeface="Sora"/>
      <p:regular r:id="rId33"/>
      <p:bold r:id="rId34"/>
    </p:embeddedFont>
    <p:embeddedFont>
      <p:font typeface="Sora Medium"/>
      <p:regular r:id="rId35"/>
      <p:bold r:id="rId36"/>
    </p:embeddedFont>
    <p:embeddedFont>
      <p:font typeface="IBM Plex Sans SemiBold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raExtraLight-regular.fntdata"/><Relationship Id="rId30" Type="http://schemas.openxmlformats.org/officeDocument/2006/relationships/font" Target="fonts/SoraLight-bold.fntdata"/><Relationship Id="rId33" Type="http://schemas.openxmlformats.org/officeDocument/2006/relationships/font" Target="fonts/Sora-regular.fntdata"/><Relationship Id="rId32" Type="http://schemas.openxmlformats.org/officeDocument/2006/relationships/font" Target="fonts/SoraExtraLight-bold.fntdata"/><Relationship Id="rId35" Type="http://schemas.openxmlformats.org/officeDocument/2006/relationships/font" Target="fonts/SoraMedium-regular.fntdata"/><Relationship Id="rId34" Type="http://schemas.openxmlformats.org/officeDocument/2006/relationships/font" Target="fonts/Sora-bold.fntdata"/><Relationship Id="rId37" Type="http://schemas.openxmlformats.org/officeDocument/2006/relationships/font" Target="fonts/IBMPlexSansSemiBold-regular.fntdata"/><Relationship Id="rId36" Type="http://schemas.openxmlformats.org/officeDocument/2006/relationships/font" Target="fonts/SoraMedium-bold.fntdata"/><Relationship Id="rId39" Type="http://schemas.openxmlformats.org/officeDocument/2006/relationships/font" Target="fonts/IBMPlexSansSemiBold-italic.fntdata"/><Relationship Id="rId38" Type="http://schemas.openxmlformats.org/officeDocument/2006/relationships/font" Target="fonts/IBMPlexSansSemiBold-bold.fntdata"/><Relationship Id="rId20" Type="http://schemas.openxmlformats.org/officeDocument/2006/relationships/font" Target="fonts/IBMPlexSans-bold.fntdata"/><Relationship Id="rId22" Type="http://schemas.openxmlformats.org/officeDocument/2006/relationships/font" Target="fonts/IBMPlexSans-boldItalic.fntdata"/><Relationship Id="rId21" Type="http://schemas.openxmlformats.org/officeDocument/2006/relationships/font" Target="fonts/IBMPlexSans-italic.fntdata"/><Relationship Id="rId24" Type="http://schemas.openxmlformats.org/officeDocument/2006/relationships/font" Target="fonts/SoraSemiBold-bold.fntdata"/><Relationship Id="rId23" Type="http://schemas.openxmlformats.org/officeDocument/2006/relationships/font" Target="fonts/SoraSemiBold-regular.fntdata"/><Relationship Id="rId26" Type="http://schemas.openxmlformats.org/officeDocument/2006/relationships/font" Target="fonts/IBMPlexSansMedium-bold.fntdata"/><Relationship Id="rId25" Type="http://schemas.openxmlformats.org/officeDocument/2006/relationships/font" Target="fonts/IBMPlexSansMedium-regular.fntdata"/><Relationship Id="rId28" Type="http://schemas.openxmlformats.org/officeDocument/2006/relationships/font" Target="fonts/IBMPlexSansMedium-boldItalic.fntdata"/><Relationship Id="rId27" Type="http://schemas.openxmlformats.org/officeDocument/2006/relationships/font" Target="fonts/IBMPlexSansMedium-italic.fntdata"/><Relationship Id="rId29" Type="http://schemas.openxmlformats.org/officeDocument/2006/relationships/font" Target="fonts/SoraLight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BMPlexSa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c69de6c3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c69de6c3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c69de6c3a4_0_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c69de6c3a4_0_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c69de6c3a4_0_9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3c69de6c3a4_0_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c69de6c3a4_0_10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3c69de6c3a4_0_1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c69de6c3a4_0_10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3c69de6c3a4_0_1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c69de6c3a4_0_1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3c69de6c3a4_0_1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c69de6c3a4_0_10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3c69de6c3a4_0_1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c69de6c3a4_0_1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3c69de6c3a4_0_1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c69de6c3a4_0_1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3c69de6c3a4_0_1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3c69de6c3a4_0_1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3c69de6c3a4_0_1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c69de6c3a4_0_1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3c69de6c3a4_0_1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3c69de6c3a4_0_1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3c69de6c3a4_0_1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c69de6c3a4_0_1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3c69de6c3a4_0_1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37650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Anđela Živković</a:t>
            </a:r>
            <a:br>
              <a:rPr lang="en">
                <a:latin typeface="Sora"/>
                <a:ea typeface="Sora"/>
                <a:cs typeface="Sora"/>
                <a:sym typeface="Sora"/>
              </a:rPr>
            </a:br>
            <a:r>
              <a:rPr lang="en">
                <a:latin typeface="Sora"/>
                <a:ea typeface="Sora"/>
                <a:cs typeface="Sora"/>
                <a:sym typeface="Sora"/>
              </a:rPr>
              <a:t>Br. indeksa: 1822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37650" y="1895400"/>
            <a:ext cx="5876700" cy="217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solidFill>
                  <a:schemeClr val="dk2"/>
                </a:solidFill>
              </a:rPr>
              <a:t>Upravljanje asinhronim stanjem i keširanjem podataka u React aplikacijama</a:t>
            </a:r>
            <a:endParaRPr sz="4600">
              <a:solidFill>
                <a:schemeClr val="dk2"/>
              </a:solidFill>
            </a:endParaRPr>
          </a:p>
        </p:txBody>
      </p:sp>
      <p:sp>
        <p:nvSpPr>
          <p:cNvPr id="890" name="Google Shape;890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Sora"/>
                <a:ea typeface="Sora"/>
                <a:cs typeface="Sora"/>
                <a:sym typeface="Sora"/>
              </a:rPr>
              <a:t>TanStack Query biblioteka</a:t>
            </a:r>
            <a:endParaRPr sz="2100"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"/>
          <p:cNvSpPr txBox="1"/>
          <p:nvPr>
            <p:ph idx="3" type="title"/>
          </p:nvPr>
        </p:nvSpPr>
        <p:spPr>
          <a:xfrm>
            <a:off x="92850" y="414375"/>
            <a:ext cx="39417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Problemi koje rešavamo</a:t>
            </a:r>
            <a:endParaRPr/>
          </a:p>
        </p:txBody>
      </p:sp>
      <p:sp>
        <p:nvSpPr>
          <p:cNvPr id="896" name="Google Shape;896;p52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5</a:t>
            </a:r>
            <a:r>
              <a:rPr b="0" lang="en"/>
              <a:t>.</a:t>
            </a:r>
            <a:endParaRPr b="0"/>
          </a:p>
        </p:txBody>
      </p:sp>
      <p:sp>
        <p:nvSpPr>
          <p:cNvPr id="897" name="Google Shape;897;p52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Složeno upravljanje stanjima: loading, error, success</a:t>
            </a:r>
            <a:endParaRPr/>
          </a:p>
        </p:txBody>
      </p:sp>
      <p:sp>
        <p:nvSpPr>
          <p:cNvPr id="898" name="Google Shape;898;p52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4</a:t>
            </a:r>
            <a:r>
              <a:rPr b="0" lang="en"/>
              <a:t>.</a:t>
            </a:r>
            <a:endParaRPr b="0"/>
          </a:p>
        </p:txBody>
      </p:sp>
      <p:sp>
        <p:nvSpPr>
          <p:cNvPr id="899" name="Google Shape;899;p52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Nepotrebni pozivi ka API-ju</a:t>
            </a:r>
            <a:endParaRPr/>
          </a:p>
        </p:txBody>
      </p:sp>
      <p:sp>
        <p:nvSpPr>
          <p:cNvPr id="900" name="Google Shape;900;p52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3.</a:t>
            </a:r>
            <a:endParaRPr b="0"/>
          </a:p>
        </p:txBody>
      </p:sp>
      <p:sp>
        <p:nvSpPr>
          <p:cNvPr id="901" name="Google Shape;901;p52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Keširanje podataka i sinhronizacija sa serverom</a:t>
            </a:r>
            <a:endParaRPr/>
          </a:p>
        </p:txBody>
      </p:sp>
      <p:sp>
        <p:nvSpPr>
          <p:cNvPr id="902" name="Google Shape;902;p52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2</a:t>
            </a:r>
            <a:r>
              <a:rPr b="0" lang="en"/>
              <a:t>.</a:t>
            </a:r>
            <a:endParaRPr b="0"/>
          </a:p>
        </p:txBody>
      </p:sp>
      <p:sp>
        <p:nvSpPr>
          <p:cNvPr id="903" name="Google Shape;903;p52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Upravljanje asinhronim stanjem (data fetching)</a:t>
            </a:r>
            <a:endParaRPr/>
          </a:p>
        </p:txBody>
      </p:sp>
      <p:sp>
        <p:nvSpPr>
          <p:cNvPr id="904" name="Google Shape;904;p52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1</a:t>
            </a:r>
            <a:r>
              <a:rPr b="0" lang="en"/>
              <a:t>.</a:t>
            </a:r>
            <a:endParaRPr b="0"/>
          </a:p>
        </p:txBody>
      </p:sp>
      <p:sp>
        <p:nvSpPr>
          <p:cNvPr id="905" name="Google Shape;905;p52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 code</a:t>
            </a:r>
            <a:endParaRPr/>
          </a:p>
        </p:txBody>
      </p:sp>
      <p:sp>
        <p:nvSpPr>
          <p:cNvPr id="906" name="Google Shape;906;p52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6.</a:t>
            </a:r>
            <a:endParaRPr b="0"/>
          </a:p>
        </p:txBody>
      </p:sp>
      <p:sp>
        <p:nvSpPr>
          <p:cNvPr id="907" name="Google Shape;907;p52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Refetching i revalidacija podataka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53"/>
          <p:cNvSpPr txBox="1"/>
          <p:nvPr>
            <p:ph idx="2" type="title"/>
          </p:nvPr>
        </p:nvSpPr>
        <p:spPr>
          <a:xfrm>
            <a:off x="115025" y="406250"/>
            <a:ext cx="8886000" cy="1071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Tradicionalno rešenje: useState + useEffect</a:t>
            </a:r>
            <a:endParaRPr sz="3100"/>
          </a:p>
        </p:txBody>
      </p:sp>
      <p:sp>
        <p:nvSpPr>
          <p:cNvPr id="913" name="Google Shape;913;p53"/>
          <p:cNvSpPr txBox="1"/>
          <p:nvPr/>
        </p:nvSpPr>
        <p:spPr>
          <a:xfrm>
            <a:off x="115025" y="1662750"/>
            <a:ext cx="42567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73A49"/>
                </a:solidFill>
              </a:rPr>
              <a:t>-</a:t>
            </a:r>
            <a:r>
              <a:rPr lang="en" sz="1200">
                <a:solidFill>
                  <a:srgbClr val="24292E"/>
                </a:solidFill>
              </a:rPr>
              <a:t> Ručno upravljanje </a:t>
            </a:r>
            <a:r>
              <a:rPr lang="en" sz="1200">
                <a:solidFill>
                  <a:srgbClr val="6F42C1"/>
                </a:solidFill>
              </a:rPr>
              <a:t>stanjima</a:t>
            </a:r>
            <a:r>
              <a:rPr lang="en" sz="1200">
                <a:solidFill>
                  <a:srgbClr val="24292E"/>
                </a:solidFill>
              </a:rPr>
              <a:t> (loading, error, data)</a:t>
            </a:r>
            <a:endParaRPr sz="1200">
              <a:solidFill>
                <a:srgbClr val="24292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73A49"/>
                </a:solidFill>
              </a:rPr>
              <a:t>-</a:t>
            </a:r>
            <a:r>
              <a:rPr lang="en" sz="1200">
                <a:solidFill>
                  <a:srgbClr val="24292E"/>
                </a:solidFill>
              </a:rPr>
              <a:t> useEffect za svaki </a:t>
            </a:r>
            <a:r>
              <a:rPr lang="en" sz="1200">
                <a:solidFill>
                  <a:srgbClr val="005CC5"/>
                </a:solidFill>
              </a:rPr>
              <a:t>API</a:t>
            </a:r>
            <a:r>
              <a:rPr lang="en" sz="1200">
                <a:solidFill>
                  <a:srgbClr val="24292E"/>
                </a:solidFill>
              </a:rPr>
              <a:t> poziv</a:t>
            </a:r>
            <a:endParaRPr sz="1200">
              <a:solidFill>
                <a:srgbClr val="24292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73A49"/>
                </a:solidFill>
              </a:rPr>
              <a:t>-</a:t>
            </a:r>
            <a:r>
              <a:rPr lang="en" sz="1200">
                <a:solidFill>
                  <a:srgbClr val="24292E"/>
                </a:solidFill>
              </a:rPr>
              <a:t> Nema automatskog keširanja</a:t>
            </a:r>
            <a:endParaRPr sz="1200">
              <a:solidFill>
                <a:srgbClr val="24292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4292E"/>
              </a:solidFill>
            </a:endParaRPr>
          </a:p>
        </p:txBody>
      </p:sp>
      <p:pic>
        <p:nvPicPr>
          <p:cNvPr id="914" name="Google Shape;914;p53" title="slide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2425" y="842500"/>
            <a:ext cx="2546003" cy="4197551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53"/>
          <p:cNvSpPr txBox="1"/>
          <p:nvPr/>
        </p:nvSpPr>
        <p:spPr>
          <a:xfrm>
            <a:off x="115025" y="3243900"/>
            <a:ext cx="2970900" cy="12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73A49"/>
                </a:solidFill>
              </a:rPr>
              <a:t>-</a:t>
            </a:r>
            <a:r>
              <a:rPr lang="en" sz="1200">
                <a:solidFill>
                  <a:srgbClr val="24292E"/>
                </a:solidFill>
              </a:rPr>
              <a:t> Ponovljeni </a:t>
            </a:r>
            <a:r>
              <a:rPr lang="en" sz="1200">
                <a:solidFill>
                  <a:srgbClr val="6F42C1"/>
                </a:solidFill>
              </a:rPr>
              <a:t>kod</a:t>
            </a:r>
            <a:r>
              <a:rPr lang="en" sz="1200">
                <a:solidFill>
                  <a:srgbClr val="24292E"/>
                </a:solidFill>
              </a:rPr>
              <a:t> (boilerplate)</a:t>
            </a:r>
            <a:endParaRPr sz="1200">
              <a:solidFill>
                <a:srgbClr val="24292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73A49"/>
                </a:solidFill>
              </a:rPr>
              <a:t>-</a:t>
            </a:r>
            <a:r>
              <a:rPr lang="en" sz="1200">
                <a:solidFill>
                  <a:srgbClr val="24292E"/>
                </a:solidFill>
              </a:rPr>
              <a:t> Teško testiranje</a:t>
            </a:r>
            <a:endParaRPr sz="1200">
              <a:solidFill>
                <a:srgbClr val="24292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73A49"/>
                </a:solidFill>
              </a:rPr>
              <a:t>-</a:t>
            </a:r>
            <a:r>
              <a:rPr lang="en" sz="1200">
                <a:solidFill>
                  <a:srgbClr val="24292E"/>
                </a:solidFill>
              </a:rPr>
              <a:t> Gubici performansi</a:t>
            </a:r>
            <a:endParaRPr sz="13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16" name="Google Shape;916;p53"/>
          <p:cNvSpPr/>
          <p:nvPr/>
        </p:nvSpPr>
        <p:spPr>
          <a:xfrm>
            <a:off x="1419425" y="2357425"/>
            <a:ext cx="362100" cy="820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54"/>
          <p:cNvSpPr txBox="1"/>
          <p:nvPr>
            <p:ph idx="2" type="body"/>
          </p:nvPr>
        </p:nvSpPr>
        <p:spPr>
          <a:xfrm>
            <a:off x="228600" y="1766075"/>
            <a:ext cx="4249800" cy="21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-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Moćna biblioteka za upravljanje asinhronim stanjem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-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Automatsko keširanje podataka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-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Background refetching i revalidacija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-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Built-in loading i error stanja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-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Optimizovana ažuriranja (invalidate query)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-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DevTools za debugging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5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923" name="Google Shape;923;p54"/>
          <p:cNvSpPr txBox="1"/>
          <p:nvPr>
            <p:ph idx="3" type="title"/>
          </p:nvPr>
        </p:nvSpPr>
        <p:spPr>
          <a:xfrm>
            <a:off x="801450" y="457200"/>
            <a:ext cx="75411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TanStack Query kao rešenje</a:t>
            </a:r>
            <a:endParaRPr/>
          </a:p>
        </p:txBody>
      </p:sp>
      <p:pic>
        <p:nvPicPr>
          <p:cNvPr id="924" name="Google Shape;924;p54" title="logo tanst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8025" y="166075"/>
            <a:ext cx="2302750" cy="23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55"/>
          <p:cNvSpPr/>
          <p:nvPr/>
        </p:nvSpPr>
        <p:spPr>
          <a:xfrm flipH="1" rot="10800000">
            <a:off x="3820750" y="2732038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0" name="Google Shape;930;p55"/>
          <p:cNvSpPr/>
          <p:nvPr/>
        </p:nvSpPr>
        <p:spPr>
          <a:xfrm flipH="1" rot="10800000">
            <a:off x="3820750" y="354096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1" name="Google Shape;931;p55"/>
          <p:cNvSpPr/>
          <p:nvPr/>
        </p:nvSpPr>
        <p:spPr>
          <a:xfrm flipH="1" rot="10800000">
            <a:off x="3820750" y="194911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2" name="Google Shape;932;p55"/>
          <p:cNvSpPr txBox="1"/>
          <p:nvPr>
            <p:ph idx="3" type="title"/>
          </p:nvPr>
        </p:nvSpPr>
        <p:spPr>
          <a:xfrm>
            <a:off x="1129950" y="1992625"/>
            <a:ext cx="2291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Automatsko keširanje - podaci se čuvaju u keš memoriji</a:t>
            </a:r>
            <a:endParaRPr/>
          </a:p>
        </p:txBody>
      </p:sp>
      <p:sp>
        <p:nvSpPr>
          <p:cNvPr id="933" name="Google Shape;933;p55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Pagination &amp; infinite scroll - ugrađena podrška</a:t>
            </a:r>
            <a:endParaRPr/>
          </a:p>
        </p:txBody>
      </p:sp>
      <p:sp>
        <p:nvSpPr>
          <p:cNvPr id="934" name="Google Shape;934;p55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Optimistic updates - UI se ažurira pre servera</a:t>
            </a:r>
            <a:endParaRPr/>
          </a:p>
        </p:txBody>
      </p:sp>
      <p:sp>
        <p:nvSpPr>
          <p:cNvPr id="935" name="Google Shape;935;p55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Mnogo manje koda - Deklarativan pristup</a:t>
            </a:r>
            <a:endParaRPr/>
          </a:p>
        </p:txBody>
      </p:sp>
      <p:sp>
        <p:nvSpPr>
          <p:cNvPr id="936" name="Google Shape;936;p55"/>
          <p:cNvSpPr txBox="1"/>
          <p:nvPr>
            <p:ph idx="4" type="title"/>
          </p:nvPr>
        </p:nvSpPr>
        <p:spPr>
          <a:xfrm>
            <a:off x="1129950" y="2801600"/>
            <a:ext cx="2291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 refetching - osvežavanje kada je potrebno</a:t>
            </a:r>
            <a:endParaRPr/>
          </a:p>
        </p:txBody>
      </p:sp>
      <p:sp>
        <p:nvSpPr>
          <p:cNvPr id="937" name="Google Shape;937;p55"/>
          <p:cNvSpPr txBox="1"/>
          <p:nvPr>
            <p:ph idx="5" type="title"/>
          </p:nvPr>
        </p:nvSpPr>
        <p:spPr>
          <a:xfrm>
            <a:off x="1129950" y="3610575"/>
            <a:ext cx="23508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Stale-while-revalidate - prikazuje stare podatke dok se učitavaju novi</a:t>
            </a:r>
            <a:endParaRPr/>
          </a:p>
        </p:txBody>
      </p:sp>
      <p:sp>
        <p:nvSpPr>
          <p:cNvPr id="938" name="Google Shape;938;p55"/>
          <p:cNvSpPr txBox="1"/>
          <p:nvPr>
            <p:ph idx="13" type="title"/>
          </p:nvPr>
        </p:nvSpPr>
        <p:spPr>
          <a:xfrm>
            <a:off x="115025" y="502775"/>
            <a:ext cx="6440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Zašto TanStack Query?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56"/>
          <p:cNvSpPr txBox="1"/>
          <p:nvPr>
            <p:ph idx="3" type="title"/>
          </p:nvPr>
        </p:nvSpPr>
        <p:spPr>
          <a:xfrm>
            <a:off x="115025" y="471075"/>
            <a:ext cx="4592400" cy="6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TanStack Query code</a:t>
            </a:r>
            <a:endParaRPr sz="3000"/>
          </a:p>
        </p:txBody>
      </p:sp>
      <p:pic>
        <p:nvPicPr>
          <p:cNvPr id="944" name="Google Shape;944;p56" title="slide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6863" y="152400"/>
            <a:ext cx="372782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57"/>
          <p:cNvSpPr txBox="1"/>
          <p:nvPr>
            <p:ph idx="1" type="body"/>
          </p:nvPr>
        </p:nvSpPr>
        <p:spPr>
          <a:xfrm>
            <a:off x="5743750" y="186220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useQuery hook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Automatski isLoading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Automatski error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Automatski isPending()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Automatski keš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57"/>
          <p:cNvSpPr txBox="1"/>
          <p:nvPr>
            <p:ph idx="2" type="body"/>
          </p:nvPr>
        </p:nvSpPr>
        <p:spPr>
          <a:xfrm>
            <a:off x="5743750" y="2781175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queryKey za invalidaciju</a:t>
            </a:r>
            <a:endParaRPr/>
          </a:p>
        </p:txBody>
      </p:sp>
      <p:sp>
        <p:nvSpPr>
          <p:cNvPr id="951" name="Google Shape;951;p57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~10 linija koda</a:t>
            </a:r>
            <a:endParaRPr/>
          </a:p>
        </p:txBody>
      </p:sp>
      <p:sp>
        <p:nvSpPr>
          <p:cNvPr id="952" name="Google Shape;952;p57"/>
          <p:cNvSpPr/>
          <p:nvPr/>
        </p:nvSpPr>
        <p:spPr>
          <a:xfrm>
            <a:off x="1473900" y="1406949"/>
            <a:ext cx="1899600" cy="286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2"/>
              </a:gs>
              <a:gs pos="40000">
                <a:schemeClr val="accent2"/>
              </a:gs>
              <a:gs pos="100000">
                <a:schemeClr val="lt2"/>
              </a:gs>
            </a:gsLst>
            <a:lin ang="2698631" scaled="0"/>
          </a:gradFill>
          <a:ln>
            <a:noFill/>
          </a:ln>
          <a:effectLst>
            <a:outerShdw blurRad="357188" rotWithShape="0" algn="bl">
              <a:schemeClr val="l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useState + useEffect</a:t>
            </a:r>
            <a:endParaRPr sz="12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3" name="Google Shape;953;p57"/>
          <p:cNvSpPr txBox="1"/>
          <p:nvPr>
            <p:ph idx="13" type="title"/>
          </p:nvPr>
        </p:nvSpPr>
        <p:spPr>
          <a:xfrm>
            <a:off x="148500" y="593000"/>
            <a:ext cx="87531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Poređenje tradicionalnog pristupa(React hooks) i TanStack Query</a:t>
            </a:r>
            <a:endParaRPr sz="2300"/>
          </a:p>
        </p:txBody>
      </p:sp>
      <p:sp>
        <p:nvSpPr>
          <p:cNvPr id="954" name="Google Shape;954;p57"/>
          <p:cNvSpPr/>
          <p:nvPr/>
        </p:nvSpPr>
        <p:spPr>
          <a:xfrm>
            <a:off x="5853000" y="1406949"/>
            <a:ext cx="1899600" cy="286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2"/>
              </a:gs>
              <a:gs pos="40000">
                <a:schemeClr val="accent2"/>
              </a:gs>
              <a:gs pos="100000">
                <a:schemeClr val="lt2"/>
              </a:gs>
            </a:gsLst>
            <a:lin ang="2698631" scaled="0"/>
          </a:gradFill>
          <a:ln>
            <a:noFill/>
          </a:ln>
          <a:effectLst>
            <a:outerShdw blurRad="357188" rotWithShape="0" algn="bl">
              <a:schemeClr val="l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TanStack Query</a:t>
            </a:r>
            <a:endParaRPr sz="12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5" name="Google Shape;955;p57"/>
          <p:cNvSpPr txBox="1"/>
          <p:nvPr>
            <p:ph idx="1" type="body"/>
          </p:nvPr>
        </p:nvSpPr>
        <p:spPr>
          <a:xfrm>
            <a:off x="819150" y="1861375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useState hook-a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Ručno setLoading(true/false)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Ručno setError()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Ručno setIsPending()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Ručno keširanje</a:t>
            </a:r>
            <a:endParaRPr/>
          </a:p>
        </p:txBody>
      </p:sp>
      <p:sp>
        <p:nvSpPr>
          <p:cNvPr id="956" name="Google Shape;956;p57"/>
          <p:cNvSpPr txBox="1"/>
          <p:nvPr>
            <p:ph idx="1" type="body"/>
          </p:nvPr>
        </p:nvSpPr>
        <p:spPr>
          <a:xfrm>
            <a:off x="819150" y="2775775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useEffect za dependencies</a:t>
            </a:r>
            <a:endParaRPr/>
          </a:p>
        </p:txBody>
      </p:sp>
      <p:sp>
        <p:nvSpPr>
          <p:cNvPr id="957" name="Google Shape;957;p57"/>
          <p:cNvSpPr txBox="1"/>
          <p:nvPr>
            <p:ph idx="1" type="body"/>
          </p:nvPr>
        </p:nvSpPr>
        <p:spPr>
          <a:xfrm>
            <a:off x="819150" y="37753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~30+ linija koda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58"/>
          <p:cNvSpPr txBox="1"/>
          <p:nvPr>
            <p:ph type="title"/>
          </p:nvPr>
        </p:nvSpPr>
        <p:spPr>
          <a:xfrm>
            <a:off x="228450" y="282450"/>
            <a:ext cx="50340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Performanse</a:t>
            </a:r>
            <a:r>
              <a:rPr lang="en" sz="3000"/>
              <a:t> - poređenje</a:t>
            </a:r>
            <a:endParaRPr sz="3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59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59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</p:spPr>
      </p:sp>
      <p:sp>
        <p:nvSpPr>
          <p:cNvPr id="969" name="Google Shape;969;p59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</p:spPr>
      </p:sp>
      <p:sp>
        <p:nvSpPr>
          <p:cNvPr id="970" name="Google Shape;970;p59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</p:spPr>
      </p:sp>
      <p:sp>
        <p:nvSpPr>
          <p:cNvPr id="971" name="Google Shape;971;p59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59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59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59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59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60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Step 1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Describe how the team will mitigate this challenge. Use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 specific and actionable steps. 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81" name="Google Shape;981;p60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Step 3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Describe how the team will mitigate this challenge. Use specific and actionable steps. 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82" name="Google Shape;982;p60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Step 2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Describe how the team will mitigate this challenge. Use specific and actionable steps. 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83" name="Google Shape;983;p60"/>
          <p:cNvSpPr txBox="1"/>
          <p:nvPr>
            <p:ph idx="5" type="title"/>
          </p:nvPr>
        </p:nvSpPr>
        <p:spPr>
          <a:xfrm>
            <a:off x="1677450" y="376988"/>
            <a:ext cx="5789100" cy="6981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useQuery - Data Fetching</a:t>
            </a:r>
            <a:endParaRPr/>
          </a:p>
        </p:txBody>
      </p:sp>
      <p:sp>
        <p:nvSpPr>
          <p:cNvPr id="984" name="Google Shape;984;p60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60"/>
          <p:cNvSpPr/>
          <p:nvPr/>
        </p:nvSpPr>
        <p:spPr>
          <a:xfrm flipH="1" rot="10800000">
            <a:off x="3820750" y="1627625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6" name="Google Shape;986;p60"/>
          <p:cNvSpPr txBox="1"/>
          <p:nvPr/>
        </p:nvSpPr>
        <p:spPr>
          <a:xfrm>
            <a:off x="36050" y="2969175"/>
            <a:ext cx="6148500" cy="20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useQuery({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queryKey: ['posts', page],      // Jedinstveni identifikator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queryFn: () =&gt; fetchPosts(page), // Funkcija za dohvat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staleTime: 5 * 60 * 1000,        // Vreme važnosti keša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placeholderData: keepPreviousData, // Prikaži stare dok se učitavaju novi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})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61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61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61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61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61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Mutacije</a:t>
            </a:r>
            <a:endParaRPr/>
          </a:p>
        </p:txBody>
      </p:sp>
      <p:sp>
        <p:nvSpPr>
          <p:cNvPr id="996" name="Google Shape;996;p61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61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62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62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62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62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62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DevTools</a:t>
            </a:r>
            <a:endParaRPr/>
          </a:p>
        </p:txBody>
      </p:sp>
      <p:sp>
        <p:nvSpPr>
          <p:cNvPr id="1007" name="Google Shape;1007;p62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62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63"/>
          <p:cNvSpPr txBox="1"/>
          <p:nvPr>
            <p:ph type="title"/>
          </p:nvPr>
        </p:nvSpPr>
        <p:spPr>
          <a:xfrm>
            <a:off x="2662050" y="1569925"/>
            <a:ext cx="3819900" cy="18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Hvala na pažnji!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